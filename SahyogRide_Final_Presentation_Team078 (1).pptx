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20"/>
    <p:sldId id="270" r:id="rId21"/>
    <p:sldId id="271" r:id="rId22"/>
    <p:sldId id="272" r:id="rId23"/>
    <p:sldId id="273" r:id="rId24"/>
    <p:sldId id="274" r:id="rId25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 Stories by Role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F46E5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818CF8"/>
              </a:solidFill>
              <a:effectLst/>
            </c:spPr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Rider (6)</c:v>
                </c:pt>
                <c:pt idx="1">
                  <c:v>Coordinator (5)</c:v>
                </c:pt>
                <c:pt idx="2">
                  <c:v>Community Admin (1)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-6-5.png"/><Relationship Id="rId4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2-1.png"/><Relationship Id="rId3" Type="http://schemas.openxmlformats.org/officeDocument/2006/relationships/image" Target="../media/image-7-1.png"/><Relationship Id="rId4" Type="http://schemas.openxmlformats.org/officeDocument/2006/relationships/image" Target="../media/image-3-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-3-3.png"/><Relationship Id="rId4" Type="http://schemas.openxmlformats.org/officeDocument/2006/relationships/image" Target="../media/image-4-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4F46E5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pic>
        <p:nvPicPr>
          <p:cNvPr id="4" name="Image 0" descr="/home/claude/deck/icons/route_F59E0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685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SERVICES PLATFORM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1945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SahyogRide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658368" y="34290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 ride &amp; seat-booking platform that replaces WhatsApp chaos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reliable, real-time seat management.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8368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  |  Team 078  |  IITM Software Engineering — 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transport runs on WhatsApp chaos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126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semi-urban and rural India, people struggle to reach hospitals, district offices, and essential services because reliable transport doesn't exist. NGOs and volunteer groups try to help — but coordination happens over WhatsApp: seat counts get confused, double-bookings happen, and no one knows who's actually coming.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“Families miss medical appointments. Elderly residents can't travel alone.”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32320" y="173736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7360920" y="1847088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732520" y="1847088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pain points documented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320040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7360920" y="3310128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732520" y="3310128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interviews &amp; observation sessions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0" y="466344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773168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732520" y="4773168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digital tool — before SahyogRide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SahyogRide — Team 078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445752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simple, digital way to coordinate free community rides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SahyogRide is a non-commercial shuttle-booking platform. NGOs and hospitals (coordinators) publish free trips — a medical shuttle, a weekly ration-office run — and residents search, hold a seat, and confirm it digitally.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27235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3063240"/>
            <a:ext cx="685800" cy="6858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7" name="Image 0" descr="/home/claude/deck/icons/ba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32232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931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payment required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44348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free — built for essential, not commercial, travel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80560" y="27432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27235E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0" y="3063240"/>
            <a:ext cx="685800" cy="6858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2" name="Image 1" descr="/home/claude/deck/icons/ma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32232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3931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GPS needed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54880" y="44348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coordination, not a tracking system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412480" y="27432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27235E"/>
          </a:solidFill>
          <a:ln/>
        </p:spPr>
      </p:sp>
      <p:sp>
        <p:nvSpPr>
          <p:cNvPr id="16" name="Shape 12"/>
          <p:cNvSpPr/>
          <p:nvPr/>
        </p:nvSpPr>
        <p:spPr>
          <a:xfrm>
            <a:off x="8686800" y="3063240"/>
            <a:ext cx="685800" cy="6858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2" descr="/home/claude/deck/icons/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820" y="32232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0" y="3931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confirmation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686800" y="44348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proof replaces ambiguous verbal promises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SahyogRide — Team 078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9445752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IDENTIFICATION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SahyogRide is built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21408"/>
            <a:ext cx="731520" cy="7315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/home/claude/deck/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286000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9933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920240" y="22860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Rider, Coordinator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223760" y="1828800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 daily and directly depend on the platform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698480" y="1828800"/>
            <a:ext cx="822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548640" y="3364992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" y="3657600"/>
            <a:ext cx="731520" cy="7315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1" descr="/home/claude/deck/icons/hand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82219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20240" y="35295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920240" y="38221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Admin, Family Caregiver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223760" y="3364992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indirectly or use it occasionally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698480" y="3364992"/>
            <a:ext cx="822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548640" y="4901184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/>
        </p:spPr>
      </p:sp>
      <p:sp>
        <p:nvSpPr>
          <p:cNvPr id="19" name="Shape 15"/>
          <p:cNvSpPr/>
          <p:nvPr/>
        </p:nvSpPr>
        <p:spPr>
          <a:xfrm>
            <a:off x="822960" y="5193792"/>
            <a:ext cx="731520" cy="731520"/>
          </a:xfrm>
          <a:prstGeom prst="ellipse">
            <a:avLst/>
          </a:prstGeom>
          <a:solidFill>
            <a:srgbClr val="818CF8"/>
          </a:solidFill>
          <a:ln/>
        </p:spPr>
      </p:sp>
      <p:pic>
        <p:nvPicPr>
          <p:cNvPr id="20" name="Image 2" descr="/home/claude/deck/icons/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5358384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20240" y="506577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920240" y="535838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Driver, Local Authority, System Admin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7223760" y="4901184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log in, but shape system design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0698480" y="4901184"/>
            <a:ext cx="822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18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SahyogRide — Team 078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9445752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IDENTIFICATION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users — who logs in every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EEF2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914400" cy="9144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/home/claude/deck/icons/rid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46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 (Seat Seeker)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41605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Residents, patients, elderly citizens, students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4400" y="4937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52120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rides, hold or confirm a seat, view booking history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55080" y="182880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EEF2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720840" y="2194560"/>
            <a:ext cx="914400" cy="9144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1" descr="/home/claude/deck/icons/coordinato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4231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20840" y="3246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Coordinator (Trip Organizer)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72084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720840" y="41605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Volunteers, NGO workers, community leaders, welfare officers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720840" y="4937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720840" y="52120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trips, track passenger lists, monitor seats in real time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SahyogRide — Team 078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9445752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IDENTIFICATION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&amp; tertiary users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USERS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/home/claude/deck/icons/hand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218998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00253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Admin / NGO Manager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34440" y="235000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multiple coordinators and trips; reviews usage reports and resolves disputes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0" name="Image 1" descr="/home/claude/deck/icons/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" y="34244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23697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Accompanying Family Member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234440" y="358444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 seat on behalf of an elderly or differently-abled relative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30936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USERS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309360" y="2057400"/>
            <a:ext cx="502920" cy="502920"/>
          </a:xfrm>
          <a:prstGeom prst="ellipse">
            <a:avLst/>
          </a:prstGeom>
          <a:solidFill>
            <a:srgbClr val="A5B4FC"/>
          </a:solidFill>
          <a:ln/>
        </p:spPr>
      </p:sp>
      <p:pic>
        <p:nvPicPr>
          <p:cNvPr id="15" name="Image 2" descr="/home/claude/deck/icons/driv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48" y="218998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95160" y="200253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/ Vehicle Owner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995160" y="235000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trip; workflow shapes how trip details are structured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309360" y="3291840"/>
            <a:ext cx="502920" cy="502920"/>
          </a:xfrm>
          <a:prstGeom prst="ellipse">
            <a:avLst/>
          </a:prstGeom>
          <a:solidFill>
            <a:srgbClr val="A5B4FC"/>
          </a:solidFill>
          <a:ln/>
        </p:spPr>
      </p:sp>
      <p:pic>
        <p:nvPicPr>
          <p:cNvPr id="19" name="Image 3" descr="/home/claude/deck/icons/governmen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948" y="3424428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95160" y="32369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Government / Health Authority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6995160" y="358444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stakeholder using aggregated trip data for planning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309360" y="4526280"/>
            <a:ext cx="502920" cy="502920"/>
          </a:xfrm>
          <a:prstGeom prst="ellipse">
            <a:avLst/>
          </a:prstGeom>
          <a:solidFill>
            <a:srgbClr val="A5B4FC"/>
          </a:solidFill>
          <a:ln/>
        </p:spPr>
      </p:sp>
      <p:pic>
        <p:nvPicPr>
          <p:cNvPr id="23" name="Image 4" descr="/home/claude/deck/icons/sysadmin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948" y="4658868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5160" y="447141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Host / System Admin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995160" y="481888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uptime, accounts, and data integrity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SahyogRide — Team 078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9445752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listened before we designed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conducted 5 interviews and 2 observation sessions with real and representative users. Participants were never asked “Would you like feature X?” — instead we asked open questions like “Tell me about a time you missed getting somewhere important.”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TALKED 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584448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Meena, 58 — Kidney Patient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513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986784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Rajan, 34 — Volunteer Coordinator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5371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38912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Sunita, 42 — Family Caregiver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95604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91456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Arjun, 26 — Community Health Worker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35838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93792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Deepa, 49 — District Welfare Officer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06640" y="173736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1E1B4B"/>
          </a:solidFill>
          <a:ln/>
        </p:spPr>
      </p:sp>
      <p:pic>
        <p:nvPicPr>
          <p:cNvPr id="17" name="Image 0" descr="/home/claude/deck/icons/research_F59E0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057400"/>
            <a:ext cx="502920" cy="5029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406640" y="265176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000" dirty="0"/>
          </a:p>
        </p:txBody>
      </p:sp>
      <p:sp>
        <p:nvSpPr>
          <p:cNvPr id="19" name="Text 16"/>
          <p:cNvSpPr/>
          <p:nvPr/>
        </p:nvSpPr>
        <p:spPr>
          <a:xfrm>
            <a:off x="7589520" y="37490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pain points documented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interviews &amp; observation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772400" y="4663440"/>
            <a:ext cx="3474720" cy="0"/>
          </a:xfrm>
          <a:prstGeom prst="line">
            <a:avLst/>
          </a:prstGeom>
          <a:noFill/>
          <a:ln w="12700">
            <a:solidFill>
              <a:srgbClr val="3F3B7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80960" y="4846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5B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makes organizing a community trip stressful?”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SahyogRide — Team 078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445752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heard, again and again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6" name="Image 0" descr="/home/claude/deck/icons/painpoint_4F46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2311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2996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 into seat availability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8346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discover too late that seats are full — especially costly for medical trips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18288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10312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1" name="Image 1" descr="/home/claude/deck/icons/painpoint_4F46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223113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2996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Unreliable, verbal confirmations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629400" y="28346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proof; leads to missed bookings and repeated verification calls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6" name="Image 2" descr="/home/claude/deck/icons/painpoint_4F46E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37997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17880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Over-commitment &amp; no-shows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9834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 struggle to enforce seat limits without a real passenger list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55080" y="39776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629400" y="425196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21" name="Image 3" descr="/home/claude/deck/icons/painpoint_4F46E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437997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17880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record-keeping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629400" y="49834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trip history to share with a doctor or government office when needed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SahyogRide — Team 078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9445752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SMART user stories, grounded in real pain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story follows: As a [user], I want [action], so that [benefit] — and maps directly to a pain point raised in our interviews.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37744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2377440"/>
            <a:ext cx="548640" cy="548640"/>
          </a:xfrm>
          <a:prstGeom prst="ellipse">
            <a:avLst/>
          </a:prstGeom>
          <a:solidFill>
            <a:srgbClr val="312C85"/>
          </a:solidFill>
          <a:ln/>
        </p:spPr>
      </p:sp>
      <p:pic>
        <p:nvPicPr>
          <p:cNvPr id="7" name="Image 0" descr="/home/claude/deck/icons/rider_F59E0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5146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23760" y="230428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 Stories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223760" y="267004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hold, confirm, cancel, view history, check availability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92240" y="3520440"/>
            <a:ext cx="548640" cy="548640"/>
          </a:xfrm>
          <a:prstGeom prst="ellipse">
            <a:avLst/>
          </a:prstGeom>
          <a:solidFill>
            <a:srgbClr val="312C85"/>
          </a:solidFill>
          <a:ln/>
        </p:spPr>
      </p:sp>
      <p:pic>
        <p:nvPicPr>
          <p:cNvPr id="11" name="Image 1" descr="/home/claude/deck/icons/coordinator_F59E0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65760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23760" y="344728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Coordinator Stories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7223760" y="381304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trip, passenger list, cancel trip, edit, prevent overbooking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492240" y="4663440"/>
            <a:ext cx="548640" cy="548640"/>
          </a:xfrm>
          <a:prstGeom prst="ellipse">
            <a:avLst/>
          </a:prstGeom>
          <a:solidFill>
            <a:srgbClr val="312C85"/>
          </a:solidFill>
          <a:ln/>
        </p:spPr>
      </p:sp>
      <p:pic>
        <p:nvPicPr>
          <p:cNvPr id="15" name="Image 2" descr="/home/claude/deck/icons/admin_F59E0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80060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223760" y="459028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Story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7223760" y="495604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trip activity across the organization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SahyogRide — Team 078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9445752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 stories — from search to seat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842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8424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34640" y="198424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40487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available trips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299008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destination and date, without calling the coordinator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9842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98424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29400" y="198424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0" y="240487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Temporary seat hold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0" y="299008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hold window with a countdown, preventing race conditions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78308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366760" y="19842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98424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424160" y="198424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66760" y="240487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reservation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66760" y="299008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 generates digital proof of booking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22452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22452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834640" y="422452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46451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seat availability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77240" y="523036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live seat counts before starting the booking flow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43400" y="402336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0" y="422452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22452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29400" y="422452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0" y="46451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 reservation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572000" y="523036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frees the seat for another rider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38160" y="402336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/>
        </p:spPr>
      </p:sp>
      <p:sp>
        <p:nvSpPr>
          <p:cNvPr id="35" name="Shape 33"/>
          <p:cNvSpPr/>
          <p:nvPr/>
        </p:nvSpPr>
        <p:spPr>
          <a:xfrm>
            <a:off x="8366760" y="422452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36" name="Text 34"/>
          <p:cNvSpPr/>
          <p:nvPr/>
        </p:nvSpPr>
        <p:spPr>
          <a:xfrm>
            <a:off x="8366760" y="422452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424160" y="422452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366760" y="46451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past bookings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8366760" y="523036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history to share with a doctor or office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SahyogRide — Team 078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445752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Coordinator &amp; admin stories — running trips safely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842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8424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US-07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34640" y="198424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40487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trip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299008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date, time, purpose &amp; capacity — instantly searchable by riders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9842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98424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29400" y="198424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0" y="240487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passenger list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0" y="299008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who's coming, updated on every booking / cancel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78308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366760" y="19842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98424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424160" y="198424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66760" y="240487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 overbooking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66760" y="299008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rejects bookings once seat limit is reached — safety critical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22452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22452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US-09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834640" y="422452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46451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 a trip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77240" y="523036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Auto-notifies all confirmed riders so no one is left waiting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43400" y="402336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0" y="422452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22452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29400" y="422452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0" y="46451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trip details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572000" y="523036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time or capacity up to 2 hours before departure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38160" y="402336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/>
        </p:spPr>
      </p:sp>
      <p:sp>
        <p:nvSpPr>
          <p:cNvPr id="35" name="Shape 33"/>
          <p:cNvSpPr/>
          <p:nvPr/>
        </p:nvSpPr>
        <p:spPr>
          <a:xfrm>
            <a:off x="8366760" y="422452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36" name="Text 34"/>
          <p:cNvSpPr/>
          <p:nvPr/>
        </p:nvSpPr>
        <p:spPr>
          <a:xfrm>
            <a:off x="8366760" y="422452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US-12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424160" y="422452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366760" y="46451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trip activity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8366760" y="523036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across all coordinators in the organization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SahyogRide — Team 078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445752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stories to a working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/home/claude/deck/icons/rout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2219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Booking Engine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1248" y="3547872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hold, confirm, cancel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41248" y="4050792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886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Concurrency-safe seat locking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41248" y="4553712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4389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Auto-expiring holds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41248" y="5056632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4892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(JWT)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26280" y="178308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8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4800600" y="205740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8" name="Image 1" descr="/home/claude/deck/icons/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2221992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800600" y="28346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Layer (isolated &amp; optional)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818888" y="3547872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7"/>
          <p:cNvSpPr/>
          <p:nvPr/>
        </p:nvSpPr>
        <p:spPr>
          <a:xfrm>
            <a:off x="502920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trip search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818888" y="4050792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19"/>
          <p:cNvSpPr/>
          <p:nvPr/>
        </p:nvSpPr>
        <p:spPr>
          <a:xfrm>
            <a:off x="5029200" y="3886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trip triage &amp; urgency tags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818888" y="4553712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0" y="4389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seat recommendation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818888" y="5056632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0" y="4892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assistant, similar trips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8503920" y="178308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8FAFC"/>
          </a:solidFill>
          <a:ln/>
        </p:spPr>
      </p:sp>
      <p:sp>
        <p:nvSpPr>
          <p:cNvPr id="29" name="Shape 25"/>
          <p:cNvSpPr/>
          <p:nvPr/>
        </p:nvSpPr>
        <p:spPr>
          <a:xfrm>
            <a:off x="8778240" y="205740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0" name="Image 2" descr="/home/claude/deck/icons/github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2221992"/>
            <a:ext cx="310896" cy="31089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778240" y="28346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Practice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8796528" y="3547872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28"/>
          <p:cNvSpPr/>
          <p:nvPr/>
        </p:nvSpPr>
        <p:spPr>
          <a:xfrm>
            <a:off x="900684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two-week sprints via Jira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8796528" y="4050792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0"/>
          <p:cNvSpPr/>
          <p:nvPr/>
        </p:nvSpPr>
        <p:spPr>
          <a:xfrm>
            <a:off x="9006840" y="3886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issues, PRs &amp; code review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8796528" y="4553712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2"/>
          <p:cNvSpPr/>
          <p:nvPr/>
        </p:nvSpPr>
        <p:spPr>
          <a:xfrm>
            <a:off x="9006840" y="4389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automated API test cases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8796528" y="5056632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4"/>
          <p:cNvSpPr/>
          <p:nvPr/>
        </p:nvSpPr>
        <p:spPr>
          <a:xfrm>
            <a:off x="9006840" y="4892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bug found &amp; fixed via testing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SahyogRide — Team 078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9445752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  <p:txBody>
          <a:bodyPr/>
          <a:p/>
        </p:txBody>
      </p:sp>
      <p:pic>
        <p:nvPicPr>
          <p:cNvPr id="3" name="Image 0" descr="/home/claude/deck/icons/hands_F59E0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22860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640080" y="33375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SahyogRide replaces WhatsApp chaos with reliable, real-time seat management —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real conversations with the people who need it most.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078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4846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Vibhav Shukla (Lead)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94960" y="4846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 Kumar Yadav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5230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Nilesh Mehra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94960" y="5230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Navneet Kumar Yadav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56144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Kumar Katha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94960" y="56144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Venkatesh Ramakrishnan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SahyogRide — Team 078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445752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93B"/>
                </a:solidFill>
                <a:latin typeface="Cambria"/>
              </a:rPr>
              <a:t>See it in action — searching for a ride</a:t>
            </a:r>
          </a:p>
        </p:txBody>
      </p:sp>
      <p:pic>
        <p:nvPicPr>
          <p:cNvPr id="4" name="Picture 3" descr="search_tr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63929"/>
            <a:ext cx="5367528" cy="2495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0"/>
            <a:ext cx="5367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mbria"/>
              </a:rPr>
              <a:t>Search, or just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5367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Filter by origin, destination, and date — or ask the AI assistant in plain language. It only searches, never books.</a:t>
            </a:r>
          </a:p>
        </p:txBody>
      </p:sp>
      <p:pic>
        <p:nvPicPr>
          <p:cNvPr id="7" name="Picture 6" descr="trip_detail_s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162647"/>
            <a:ext cx="5367528" cy="28984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81928" y="5669280"/>
            <a:ext cx="5367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mbria"/>
              </a:rPr>
              <a:t>A bus you can actually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28" y="5961888"/>
            <a:ext cx="5367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Every seat is a chair icon, not colour alone, so status is clear at a glance — live for everyone, updated every 5 seconds.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SahyogRide — Team 078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93B"/>
                </a:solidFill>
                <a:latin typeface="Cambria"/>
              </a:rPr>
              <a:t>Live tracking, from booking to arrival</a:t>
            </a:r>
          </a:p>
        </p:txBody>
      </p:sp>
      <p:pic>
        <p:nvPicPr>
          <p:cNvPr id="4" name="Picture 3" descr="my_reserv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63288"/>
            <a:ext cx="5367528" cy="26971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0"/>
            <a:ext cx="5367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mbria"/>
              </a:rPr>
              <a:t>One place for every booking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5367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A status timeline and a live map sit on every confirmed reservation — no more calling to ask “where's the van?”</a:t>
            </a:r>
          </a:p>
        </p:txBody>
      </p:sp>
      <p:pic>
        <p:nvPicPr>
          <p:cNvPr id="7" name="Picture 6" descr="live_tracker_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867" y="1691640"/>
            <a:ext cx="4815648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81928" y="5669280"/>
            <a:ext cx="5367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mbria"/>
              </a:rPr>
              <a:t>Zoom in on the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28" y="5961888"/>
            <a:ext cx="5367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The coordinator marks the real stop; the marker eases between stops for every viewer — live, never a fake animation.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SahyogRide — Team 078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93B"/>
                </a:solidFill>
                <a:latin typeface="Cambria"/>
              </a:rPr>
              <a:t>Built for the people running the trip</a:t>
            </a:r>
          </a:p>
        </p:txBody>
      </p:sp>
      <p:pic>
        <p:nvPicPr>
          <p:cNvPr id="4" name="Picture 3" descr="create_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18000"/>
            <a:ext cx="5367528" cy="27877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0"/>
            <a:ext cx="5367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mbria"/>
              </a:rPr>
              <a:t>Publish a trip in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5367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Route, time, and capacity — seats generate automatically and the trip is instantly searchable by riders.</a:t>
            </a:r>
          </a:p>
        </p:txBody>
      </p:sp>
      <p:pic>
        <p:nvPicPr>
          <p:cNvPr id="7" name="Picture 6" descr="passenger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464570"/>
            <a:ext cx="5367528" cy="22946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81928" y="5669280"/>
            <a:ext cx="5367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mbria"/>
              </a:rPr>
              <a:t>Know exactly who's coming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28" y="5961888"/>
            <a:ext cx="5367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A real-time passenger list with contact numbers — no phone calls, no spreadsheets, ever.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SahyogRide — Team 078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93B"/>
                </a:solidFill>
                <a:latin typeface="Cambria"/>
              </a:rPr>
              <a:t>A simple, three-layer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0574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-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221991"/>
            <a:ext cx="310896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59" y="2834639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mbria"/>
              </a:rPr>
              <a:t>Frontend</a:t>
            </a:r>
          </a:p>
        </p:txBody>
      </p:sp>
      <p:sp>
        <p:nvSpPr>
          <p:cNvPr id="8" name="Oval 7"/>
          <p:cNvSpPr/>
          <p:nvPr/>
        </p:nvSpPr>
        <p:spPr>
          <a:xfrm>
            <a:off x="841247" y="354787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React 18, Vite, Tailwind CSS</a:t>
            </a:r>
          </a:p>
        </p:txBody>
      </p:sp>
      <p:sp>
        <p:nvSpPr>
          <p:cNvPr id="10" name="Oval 9"/>
          <p:cNvSpPr/>
          <p:nvPr/>
        </p:nvSpPr>
        <p:spPr>
          <a:xfrm>
            <a:off x="841247" y="4050791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886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TanStack Query for live data</a:t>
            </a:r>
          </a:p>
        </p:txBody>
      </p:sp>
      <p:sp>
        <p:nvSpPr>
          <p:cNvPr id="12" name="Oval 11"/>
          <p:cNvSpPr/>
          <p:nvPr/>
        </p:nvSpPr>
        <p:spPr>
          <a:xfrm>
            <a:off x="841247" y="455371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Framer Motion animations</a:t>
            </a:r>
          </a:p>
        </p:txBody>
      </p:sp>
      <p:sp>
        <p:nvSpPr>
          <p:cNvPr id="14" name="Oval 13"/>
          <p:cNvSpPr/>
          <p:nvPr/>
        </p:nvSpPr>
        <p:spPr>
          <a:xfrm>
            <a:off x="841247" y="5056631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892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Leaflet maps, OpenStreetMap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178308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0600" y="20574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2221991"/>
            <a:ext cx="310896" cy="31089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00600" y="2834639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mbria"/>
              </a:rPr>
              <a:t>Backend &amp; Data</a:t>
            </a:r>
          </a:p>
        </p:txBody>
      </p:sp>
      <p:sp>
        <p:nvSpPr>
          <p:cNvPr id="20" name="Oval 19"/>
          <p:cNvSpPr/>
          <p:nvPr/>
        </p:nvSpPr>
        <p:spPr>
          <a:xfrm>
            <a:off x="4818888" y="354787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FastAPI + SQLAlchemy 2.0</a:t>
            </a:r>
          </a:p>
        </p:txBody>
      </p:sp>
      <p:sp>
        <p:nvSpPr>
          <p:cNvPr id="22" name="Oval 21"/>
          <p:cNvSpPr/>
          <p:nvPr/>
        </p:nvSpPr>
        <p:spPr>
          <a:xfrm>
            <a:off x="4818888" y="4050791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886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PostgreSQL 15 + pgvector</a:t>
            </a:r>
          </a:p>
        </p:txBody>
      </p:sp>
      <p:sp>
        <p:nvSpPr>
          <p:cNvPr id="24" name="Oval 23"/>
          <p:cNvSpPr/>
          <p:nvPr/>
        </p:nvSpPr>
        <p:spPr>
          <a:xfrm>
            <a:off x="4818888" y="455371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JWT auth, bcrypt hashing</a:t>
            </a:r>
          </a:p>
        </p:txBody>
      </p:sp>
      <p:sp>
        <p:nvSpPr>
          <p:cNvPr id="26" name="Oval 25"/>
          <p:cNvSpPr/>
          <p:nvPr/>
        </p:nvSpPr>
        <p:spPr>
          <a:xfrm>
            <a:off x="4818888" y="5056631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892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Alembic — reversible migrations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178308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78240" y="20574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con-spark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2" y="2221991"/>
            <a:ext cx="310896" cy="3108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778240" y="2834639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mbria"/>
              </a:rPr>
              <a:t>AI Layer (isolated)</a:t>
            </a:r>
          </a:p>
        </p:txBody>
      </p:sp>
      <p:sp>
        <p:nvSpPr>
          <p:cNvPr id="32" name="Oval 31"/>
          <p:cNvSpPr/>
          <p:nvPr/>
        </p:nvSpPr>
        <p:spPr>
          <a:xfrm>
            <a:off x="8796528" y="354787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One isolated service module</a:t>
            </a:r>
          </a:p>
        </p:txBody>
      </p:sp>
      <p:sp>
        <p:nvSpPr>
          <p:cNvPr id="34" name="Oval 33"/>
          <p:cNvSpPr/>
          <p:nvPr/>
        </p:nvSpPr>
        <p:spPr>
          <a:xfrm>
            <a:off x="8796528" y="4050791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3886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5-second timeout, fails to null</a:t>
            </a:r>
          </a:p>
        </p:txBody>
      </p:sp>
      <p:sp>
        <p:nvSpPr>
          <p:cNvPr id="36" name="Oval 35"/>
          <p:cNvSpPr/>
          <p:nvPr/>
        </p:nvSpPr>
        <p:spPr>
          <a:xfrm>
            <a:off x="8796528" y="455371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Zero write power, ever</a:t>
            </a:r>
          </a:p>
        </p:txBody>
      </p:sp>
      <p:sp>
        <p:nvSpPr>
          <p:cNvPr id="38" name="Oval 37"/>
          <p:cNvSpPr/>
          <p:nvPr/>
        </p:nvSpPr>
        <p:spPr>
          <a:xfrm>
            <a:off x="8796528" y="5056631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06840" y="4892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Works fully with AI off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SahyogRide — Team 078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45752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93B"/>
                </a:solidFill>
                <a:latin typeface="Cambria"/>
              </a:rPr>
              <a:t>Six AI features — all optional, all with a fallback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0574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221991"/>
            <a:ext cx="310896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59" y="2834639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mbria"/>
              </a:rPr>
              <a:t>Finding a trip</a:t>
            </a:r>
          </a:p>
        </p:txBody>
      </p:sp>
      <p:sp>
        <p:nvSpPr>
          <p:cNvPr id="8" name="Oval 7"/>
          <p:cNvSpPr/>
          <p:nvPr/>
        </p:nvSpPr>
        <p:spPr>
          <a:xfrm>
            <a:off x="841247" y="354787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Semantic search via pgvector</a:t>
            </a:r>
          </a:p>
        </p:txBody>
      </p:sp>
      <p:sp>
        <p:nvSpPr>
          <p:cNvPr id="10" name="Oval 9"/>
          <p:cNvSpPr/>
          <p:nvPr/>
        </p:nvSpPr>
        <p:spPr>
          <a:xfrm>
            <a:off x="841247" y="4050791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886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Matches natural language</a:t>
            </a:r>
          </a:p>
        </p:txBody>
      </p:sp>
      <p:sp>
        <p:nvSpPr>
          <p:cNvPr id="12" name="Oval 11"/>
          <p:cNvSpPr/>
          <p:nvPr/>
        </p:nvSpPr>
        <p:spPr>
          <a:xfrm>
            <a:off x="841247" y="455371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Falls back to keyword 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78308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00600" y="20574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2221991"/>
            <a:ext cx="310896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00600" y="2834639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mbria"/>
              </a:rPr>
              <a:t>Booking a seat</a:t>
            </a:r>
          </a:p>
        </p:txBody>
      </p:sp>
      <p:sp>
        <p:nvSpPr>
          <p:cNvPr id="18" name="Oval 17"/>
          <p:cNvSpPr/>
          <p:nvPr/>
        </p:nvSpPr>
        <p:spPr>
          <a:xfrm>
            <a:off x="4818888" y="354787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Smart seat suggestions</a:t>
            </a:r>
          </a:p>
        </p:txBody>
      </p:sp>
      <p:sp>
        <p:nvSpPr>
          <p:cNvPr id="20" name="Oval 19"/>
          <p:cNvSpPr/>
          <p:nvPr/>
        </p:nvSpPr>
        <p:spPr>
          <a:xfrm>
            <a:off x="4818888" y="4050791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886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From a free-text note</a:t>
            </a:r>
          </a:p>
        </p:txBody>
      </p:sp>
      <p:sp>
        <p:nvSpPr>
          <p:cNvPr id="22" name="Oval 21"/>
          <p:cNvSpPr/>
          <p:nvPr/>
        </p:nvSpPr>
        <p:spPr>
          <a:xfrm>
            <a:off x="4818888" y="455371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Plus a rider chat assistant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178308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0" y="20574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2" y="2221991"/>
            <a:ext cx="310896" cy="3108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0" y="2834639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mbria"/>
              </a:rPr>
              <a:t>After confirmation</a:t>
            </a:r>
          </a:p>
        </p:txBody>
      </p:sp>
      <p:sp>
        <p:nvSpPr>
          <p:cNvPr id="28" name="Oval 27"/>
          <p:cNvSpPr/>
          <p:nvPr/>
        </p:nvSpPr>
        <p:spPr>
          <a:xfrm>
            <a:off x="8796528" y="354787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AI urgency triage</a:t>
            </a:r>
          </a:p>
        </p:txBody>
      </p:sp>
      <p:sp>
        <p:nvSpPr>
          <p:cNvPr id="30" name="Oval 29"/>
          <p:cNvSpPr/>
          <p:nvPr/>
        </p:nvSpPr>
        <p:spPr>
          <a:xfrm>
            <a:off x="8796528" y="4050791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3886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One-line trip summaries</a:t>
            </a:r>
          </a:p>
        </p:txBody>
      </p:sp>
      <p:sp>
        <p:nvSpPr>
          <p:cNvPr id="32" name="Oval 31"/>
          <p:cNvSpPr/>
          <p:nvPr/>
        </p:nvSpPr>
        <p:spPr>
          <a:xfrm>
            <a:off x="8796528" y="455371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Accessibility auto-tagged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897880"/>
            <a:ext cx="11567160" cy="5029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989320"/>
            <a:ext cx="11109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F46E5"/>
                </a:solidFill>
                <a:latin typeface="Calibri"/>
              </a:rPr>
              <a:t>Every one degrades gracefully — 5-second timeout, never a crash, full booking flow works identically with AI off.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SahyogRide — Team 078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5752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93B"/>
                </a:solidFill>
                <a:latin typeface="Cambria"/>
              </a:rPr>
              <a:t>Zero double-bookings, guaranteed — not hoped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0574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-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221991"/>
            <a:ext cx="310896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59" y="2834639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mbria"/>
              </a:rPr>
              <a:t>1. Row-level lock</a:t>
            </a:r>
          </a:p>
        </p:txBody>
      </p:sp>
      <p:sp>
        <p:nvSpPr>
          <p:cNvPr id="8" name="Oval 7"/>
          <p:cNvSpPr/>
          <p:nvPr/>
        </p:nvSpPr>
        <p:spPr>
          <a:xfrm>
            <a:off x="841247" y="354787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SELECT ... FOR UPDATE</a:t>
            </a:r>
          </a:p>
        </p:txBody>
      </p:sp>
      <p:sp>
        <p:nvSpPr>
          <p:cNvPr id="10" name="Oval 9"/>
          <p:cNvSpPr/>
          <p:nvPr/>
        </p:nvSpPr>
        <p:spPr>
          <a:xfrm>
            <a:off x="841247" y="4050791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886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Locks the seat row</a:t>
            </a:r>
          </a:p>
        </p:txBody>
      </p:sp>
      <p:sp>
        <p:nvSpPr>
          <p:cNvPr id="12" name="Oval 11"/>
          <p:cNvSpPr/>
          <p:nvPr/>
        </p:nvSpPr>
        <p:spPr>
          <a:xfrm>
            <a:off x="841247" y="455371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Requests serialise, never race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78308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00600" y="20574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2221991"/>
            <a:ext cx="310896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00600" y="2834639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mbria"/>
              </a:rPr>
              <a:t>2. Unique constraint</a:t>
            </a:r>
          </a:p>
        </p:txBody>
      </p:sp>
      <p:sp>
        <p:nvSpPr>
          <p:cNvPr id="18" name="Oval 17"/>
          <p:cNvSpPr/>
          <p:nvPr/>
        </p:nvSpPr>
        <p:spPr>
          <a:xfrm>
            <a:off x="4818888" y="354787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UNIQUE(seat_id) on holds</a:t>
            </a:r>
          </a:p>
        </p:txBody>
      </p:sp>
      <p:sp>
        <p:nvSpPr>
          <p:cNvPr id="20" name="Oval 19"/>
          <p:cNvSpPr/>
          <p:nvPr/>
        </p:nvSpPr>
        <p:spPr>
          <a:xfrm>
            <a:off x="4818888" y="4050791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886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An independent 2nd guard</a:t>
            </a:r>
          </a:p>
        </p:txBody>
      </p:sp>
      <p:sp>
        <p:nvSpPr>
          <p:cNvPr id="22" name="Oval 21"/>
          <p:cNvSpPr/>
          <p:nvPr/>
        </p:nvSpPr>
        <p:spPr>
          <a:xfrm>
            <a:off x="4818888" y="455371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Holds even if the lock is missed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178308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0" y="20574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2" y="2221991"/>
            <a:ext cx="310896" cy="3108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0" y="2834639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mbria"/>
              </a:rPr>
              <a:t>3. Partial unique index</a:t>
            </a:r>
          </a:p>
        </p:txBody>
      </p:sp>
      <p:sp>
        <p:nvSpPr>
          <p:cNvPr id="28" name="Oval 27"/>
          <p:cNvSpPr/>
          <p:nvPr/>
        </p:nvSpPr>
        <p:spPr>
          <a:xfrm>
            <a:off x="8796528" y="354787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UNIQUE seat WHERE confirmed</a:t>
            </a:r>
          </a:p>
        </p:txBody>
      </p:sp>
      <p:sp>
        <p:nvSpPr>
          <p:cNvPr id="30" name="Oval 29"/>
          <p:cNvSpPr/>
          <p:nvPr/>
        </p:nvSpPr>
        <p:spPr>
          <a:xfrm>
            <a:off x="8796528" y="4050791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3886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Database-level backstop</a:t>
            </a:r>
          </a:p>
        </p:txBody>
      </p:sp>
      <p:sp>
        <p:nvSpPr>
          <p:cNvPr id="32" name="Oval 31"/>
          <p:cNvSpPr/>
          <p:nvPr/>
        </p:nvSpPr>
        <p:spPr>
          <a:xfrm>
            <a:off x="8796528" y="455371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Never two confirmed seats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897880"/>
            <a:ext cx="11567160" cy="5029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989320"/>
            <a:ext cx="11109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F46E5"/>
                </a:solidFill>
                <a:latin typeface="Calibri"/>
              </a:rPr>
              <a:t>Verified by our star test: two riders race for one seat, 50 iterations — always one 201, one calm 409.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SahyogRide — Team 078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5752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2026-08-23T16:34:19Z</dcterms:created>
  <dcterms:modified xsi:type="dcterms:W3CDTF">2026-08-23T16:34:19Z</dcterms:modified>
</cp:coreProperties>
</file>